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06840" y="0"/>
            <a:ext cx="3182112" cy="6858000"/>
          </a:xfrm>
          <a:prstGeom prst="roundRect">
            <a:avLst>
              <a:gd name="adj" fmla="val 12000"/>
            </a:avLst>
          </a:prstGeom>
          <a:solidFill>
            <a:srgbClr val="123B58"/>
          </a:solidFill>
          <a:ln>
            <a:solidFill>
              <a:srgbClr val="12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310896"/>
            <a:ext cx="749808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484632"/>
            <a:ext cx="4206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9D3C5"/>
                </a:solidFill>
                <a:latin typeface="Aptos Display"/>
              </a:rPr>
              <a:t>MARIS V1.5 / ENGINEERING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7498079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F5F8FC"/>
                </a:solidFill>
                <a:latin typeface="Aptos Display"/>
              </a:rPr>
              <a:t>Provider-specific mess
stops at the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258568"/>
            <a:ext cx="6812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A9B9C8"/>
                </a:solidFill>
                <a:latin typeface="Aptos"/>
              </a:rPr>
              <a:t>Declarative Intake makes every dataset extension a local boundary + contract change — not a new core-pipeline branch.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944368"/>
            <a:ext cx="1719072" cy="310896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>
            <a:solidFill>
              <a:srgbClr val="19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012948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5F8FC"/>
                </a:solidFill>
                <a:latin typeface="Aptos"/>
              </a:rPr>
              <a:t>NO HANDLER MIGRATION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2944368"/>
            <a:ext cx="1664208" cy="310896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>
            <a:solidFill>
              <a:srgbClr val="C8F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1176" y="3012948"/>
            <a:ext cx="14447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5F8FC"/>
                </a:solidFill>
                <a:latin typeface="Aptos"/>
              </a:rPr>
              <a:t>3 DATASETS VERIFIED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39312" y="4590288"/>
            <a:ext cx="310896" cy="0"/>
          </a:xfrm>
          <a:prstGeom prst="line">
            <a:avLst/>
          </a:prstGeom>
          <a:ln w="25400">
            <a:solidFill>
              <a:srgbClr val="19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01968" y="4590288"/>
            <a:ext cx="310896" cy="0"/>
          </a:xfrm>
          <a:prstGeom prst="line">
            <a:avLst/>
          </a:prstGeom>
          <a:ln w="25400">
            <a:solidFill>
              <a:srgbClr val="19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3886200" y="4507992"/>
            <a:ext cx="164592" cy="164592"/>
          </a:xfrm>
          <a:prstGeom prst="triangle">
            <a:avLst/>
          </a:prstGeom>
          <a:solidFill>
            <a:srgbClr val="19D3C5"/>
          </a:solidFill>
          <a:ln>
            <a:solidFill>
              <a:srgbClr val="19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5400000">
            <a:off x="6848856" y="4507992"/>
            <a:ext cx="164592" cy="164592"/>
          </a:xfrm>
          <a:prstGeom prst="triangle">
            <a:avLst/>
          </a:prstGeom>
          <a:solidFill>
            <a:srgbClr val="19D3C5"/>
          </a:solidFill>
          <a:ln>
            <a:solidFill>
              <a:srgbClr val="19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712463"/>
            <a:ext cx="2907792" cy="1499616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88620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7D68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187952"/>
            <a:ext cx="26151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BOUNDARY LOADER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535424"/>
            <a:ext cx="26334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A9B9C8"/>
                </a:solidFill>
                <a:latin typeface="Aptos"/>
              </a:rPr>
              <a:t>ZIP / XLSX
broken headers
date parsing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3712463"/>
            <a:ext cx="2487168" cy="1499616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51376" y="388620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8F28A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418795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YAML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4535424"/>
            <a:ext cx="221284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A9B9C8"/>
                </a:solidFill>
                <a:latin typeface="Aptos"/>
              </a:rPr>
              <a:t>columns · melt · LUTs
defaults · metadata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712463"/>
            <a:ext cx="2971800" cy="1499616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1" y="388620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2B9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1" y="4187952"/>
            <a:ext cx="2679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5F8FC"/>
                </a:solidFill>
                <a:latin typeface="Aptos"/>
              </a:rPr>
              <a:t>SHARED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1" y="4535424"/>
            <a:ext cx="26974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A9B9C8"/>
                </a:solidFill>
                <a:latin typeface="Aptos"/>
              </a:rPr>
              <a:t>provider-blind gates
NetCDF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5605272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9D3C5"/>
                </a:solidFill>
                <a:latin typeface="Aptos"/>
              </a:rPr>
              <a:t>The review question: do provider quirks stay in the Loader, while meaning stays declarative?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234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6519672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A9B9C8"/>
                </a:solidFill>
                <a:latin typeface="Aptos"/>
              </a:rPr>
              <a:t>MARIS  |  Declarative 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013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9D3C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4389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9D3C5"/>
                </a:solidFill>
                <a:latin typeface="Aptos Display"/>
              </a:rPr>
              <a:t>CONCRETE PRACTICAL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F5F8FC"/>
                </a:solidFill>
                <a:latin typeface="Aptos Display"/>
              </a:rPr>
              <a:t>JOIS avoids an SQL import crash in two YAML 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61872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A9B9C8"/>
                </a:solidFill>
                <a:latin typeface="Aptos"/>
              </a:rPr>
              <a:t>The provider file has no detection field. The contract supplies the required semantic default at the right point in the flow.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234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A9B9C8"/>
                </a:solidFill>
                <a:latin typeface="Aptos"/>
              </a:rPr>
              <a:t>MARIS  |  Declarative 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013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9D3C5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856231"/>
            <a:ext cx="3310128" cy="3584448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75688"/>
            <a:ext cx="23774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7D68"/>
                </a:solidFill>
                <a:latin typeface="Aptos Display"/>
              </a:rPr>
              <a:t>AFTER BOUNDARY LOADER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5915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5F8FC"/>
                </a:solidFill>
                <a:latin typeface="Aptos"/>
              </a:rPr>
              <a:t>Provider-shaped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816352"/>
            <a:ext cx="2834640" cy="1755648"/>
          </a:xfrm>
          <a:prstGeom prst="roundRect">
            <a:avLst>
              <a:gd name="adj" fmla="val 12000"/>
            </a:avLst>
          </a:prstGeom>
          <a:solidFill>
            <a:srgbClr val="06111E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2816352"/>
            <a:ext cx="64008" cy="1755648"/>
          </a:xfrm>
          <a:prstGeom prst="rect">
            <a:avLst/>
          </a:prstGeom>
          <a:solidFill>
            <a:srgbClr val="FF7D68"/>
          </a:solidFill>
          <a:ln>
            <a:solidFill>
              <a:srgbClr val="FF7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962656"/>
            <a:ext cx="2514600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D9E7F2"/>
                </a:solidFill>
                <a:latin typeface="Consolas"/>
              </a:rPr>
              <a:t>Cruise       JOIS 2021
Station      CB4
Latitude     75.000833
Longitude   -150.001333
I129_at_kg  6.40e+08
RAW_DETECTION_PRESENT=False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91456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A9B9C8"/>
                </a:solidFill>
                <a:latin typeface="Aptos"/>
              </a:rPr>
              <a:t>Physical file cleanup is complete.
No MARIS semantic field is invented 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856231"/>
            <a:ext cx="3419856" cy="3584448"/>
          </a:xfrm>
          <a:prstGeom prst="roundRect">
            <a:avLst>
              <a:gd name="adj" fmla="val 12000"/>
            </a:avLst>
          </a:prstGeom>
          <a:solidFill>
            <a:srgbClr val="102E47"/>
          </a:solidFill>
          <a:ln>
            <a:solidFill>
              <a:srgbClr val="2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075688"/>
            <a:ext cx="2103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8F28A"/>
                </a:solidFill>
                <a:latin typeface="Aptos Display"/>
              </a:rPr>
              <a:t>YAML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591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5F8FC"/>
                </a:solidFill>
                <a:latin typeface="Aptos"/>
              </a:rPr>
              <a:t>Declare the SQL semantic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2852928"/>
            <a:ext cx="2852928" cy="822960"/>
          </a:xfrm>
          <a:prstGeom prst="roundRect">
            <a:avLst>
              <a:gd name="adj" fmla="val 12000"/>
            </a:avLst>
          </a:prstGeom>
          <a:solidFill>
            <a:srgbClr val="06111E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2852928"/>
            <a:ext cx="64008" cy="822960"/>
          </a:xfrm>
          <a:prstGeom prst="rect">
            <a:avLst/>
          </a:prstGeom>
          <a:solidFill>
            <a:srgbClr val="C8F28A"/>
          </a:solidFill>
          <a:ln>
            <a:solidFill>
              <a:srgbClr val="C8F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999232"/>
            <a:ext cx="253288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D9E7F2"/>
                </a:solidFill>
                <a:latin typeface="Consolas"/>
              </a:rPr>
              <a:t>measurement_defaults:
  detection: "="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005072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9B9C8"/>
                </a:solidFill>
                <a:latin typeface="Aptos"/>
              </a:rPr>
              <a:t>Applied post-melt
Applied before Gate 2
Existing non-null values are preserved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4809744"/>
            <a:ext cx="2487168" cy="310896"/>
          </a:xfrm>
          <a:prstGeom prst="roundRect">
            <a:avLst>
              <a:gd name="adj" fmla="val 12000"/>
            </a:avLst>
          </a:prstGeom>
          <a:solidFill>
            <a:srgbClr val="16354D"/>
          </a:solidFill>
          <a:ln>
            <a:solidFill>
              <a:srgbClr val="C8F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4878324"/>
            <a:ext cx="22677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5F8FC"/>
                </a:solidFill>
                <a:latin typeface="Aptos"/>
              </a:rPr>
              <a:t>NO CUSTOM CALLBACK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1856231"/>
            <a:ext cx="3611880" cy="3584448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075688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9D3C5"/>
                </a:solidFill>
                <a:latin typeface="Aptos Display"/>
              </a:rPr>
              <a:t>AFTER DECLARATIVE PREFLIGHT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5915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5F8FC"/>
                </a:solidFill>
                <a:latin typeface="Aptos"/>
              </a:rPr>
              <a:t>76 valid SQL-ready records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816352"/>
            <a:ext cx="3017520" cy="1755648"/>
          </a:xfrm>
          <a:prstGeom prst="roundRect">
            <a:avLst>
              <a:gd name="adj" fmla="val 12000"/>
            </a:avLst>
          </a:prstGeom>
          <a:solidFill>
            <a:srgbClr val="06111E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2816352"/>
            <a:ext cx="64008" cy="1755648"/>
          </a:xfrm>
          <a:prstGeom prst="rect">
            <a:avLst/>
          </a:prstGeom>
          <a:solidFill>
            <a:srgbClr val="19D3C5"/>
          </a:solidFill>
          <a:ln>
            <a:solidFill>
              <a:srgbClr val="19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962656"/>
            <a:ext cx="2697479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D9E7F2"/>
                </a:solidFill>
                <a:latin typeface="Consolas"/>
              </a:rPr>
              <a:t>detection
        =
        =
        =
        =
DETECTION_COUNTS={'=': 76}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791456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A9B9C8"/>
                </a:solidFill>
                <a:latin typeface="Aptos"/>
              </a:rPr>
              <a:t>CLI: Gate 1 + Gate 2 passed
SEAWATER: 76 rows × 17 cols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234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" y="6519672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A9B9C8"/>
                </a:solidFill>
                <a:latin typeface="Aptos"/>
              </a:rPr>
              <a:t>MARIS  |  Declarative Intake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5013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9D3C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4389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9D3C5"/>
                </a:solidFill>
                <a:latin typeface="Aptos Display"/>
              </a:rPr>
              <a:t>SAFETY BEFORE LOSSY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F5F8FC"/>
                </a:solidFill>
                <a:latin typeface="Aptos Display"/>
              </a:rPr>
              <a:t>Gate 2 exposes defects before sanitization can hide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61872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A9B9C8"/>
                </a:solidFill>
                <a:latin typeface="Aptos"/>
              </a:rPr>
              <a:t>Validation is deliberately positioned before coordinate/time cleanup and NetCDF encoding.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234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A9B9C8"/>
                </a:solidFill>
                <a:latin typeface="Aptos"/>
              </a:rPr>
              <a:t>MARIS  |  Declarative 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013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9D3C5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" y="1901952"/>
            <a:ext cx="3657600" cy="4069080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30552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2B9FF"/>
                </a:solidFill>
                <a:latin typeface="Aptos Display"/>
              </a:rPr>
              <a:t>VALIDATION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505456"/>
            <a:ext cx="3054096" cy="566928"/>
          </a:xfrm>
          <a:prstGeom prst="roundRect">
            <a:avLst>
              <a:gd name="adj" fmla="val 12000"/>
            </a:avLst>
          </a:prstGeom>
          <a:solidFill>
            <a:srgbClr val="102E47"/>
          </a:solidFill>
          <a:ln>
            <a:solidFill>
              <a:srgbClr val="21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624328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2B9FF"/>
                </a:solidFill>
                <a:latin typeface="Aptos"/>
              </a:rPr>
              <a:t>GATE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40"/>
            <a:ext cx="1847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5F8FC"/>
                </a:solidFill>
                <a:latin typeface="Aptos"/>
              </a:rPr>
              <a:t>Pydantic validates YAML shape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95728" y="3072384"/>
            <a:ext cx="0" cy="155448"/>
          </a:xfrm>
          <a:prstGeom prst="line">
            <a:avLst/>
          </a:prstGeom>
          <a:ln w="17780">
            <a:solidFill>
              <a:srgbClr val="19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" y="3310128"/>
            <a:ext cx="3054096" cy="566928"/>
          </a:xfrm>
          <a:prstGeom prst="roundRect">
            <a:avLst>
              <a:gd name="adj" fmla="val 12000"/>
            </a:avLst>
          </a:prstGeom>
          <a:solidFill>
            <a:srgbClr val="102E47"/>
          </a:solidFill>
          <a:ln>
            <a:solidFill>
              <a:srgbClr val="21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42900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9D3C5"/>
                </a:solidFill>
                <a:latin typeface="Aptos"/>
              </a:rP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410712"/>
            <a:ext cx="1847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5F8FC"/>
                </a:solidFill>
                <a:latin typeface="Aptos"/>
              </a:rPr>
              <a:t>Map, parse, melt, remap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95728" y="3877056"/>
            <a:ext cx="0" cy="155448"/>
          </a:xfrm>
          <a:prstGeom prst="line">
            <a:avLst/>
          </a:prstGeom>
          <a:ln w="17780">
            <a:solidFill>
              <a:srgbClr val="19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" y="4114800"/>
            <a:ext cx="3054096" cy="566928"/>
          </a:xfrm>
          <a:prstGeom prst="roundRect">
            <a:avLst>
              <a:gd name="adj" fmla="val 12000"/>
            </a:avLst>
          </a:prstGeom>
          <a:solidFill>
            <a:srgbClr val="102E47"/>
          </a:solidFill>
          <a:ln>
            <a:solidFill>
              <a:srgbClr val="21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4233672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7D68"/>
                </a:solidFill>
                <a:latin typeface="Aptos"/>
              </a:rPr>
              <a:t>GATE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15384"/>
            <a:ext cx="1847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5F8FC"/>
                </a:solidFill>
                <a:latin typeface="Aptos"/>
              </a:rPr>
              <a:t>Check required columns, LAT/LON/TIME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95728" y="4681728"/>
            <a:ext cx="0" cy="155448"/>
          </a:xfrm>
          <a:prstGeom prst="line">
            <a:avLst/>
          </a:prstGeom>
          <a:ln w="17780">
            <a:solidFill>
              <a:srgbClr val="19D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8680" y="4919472"/>
            <a:ext cx="3054096" cy="566928"/>
          </a:xfrm>
          <a:prstGeom prst="roundRect">
            <a:avLst>
              <a:gd name="adj" fmla="val 12000"/>
            </a:avLst>
          </a:prstGeom>
          <a:solidFill>
            <a:srgbClr val="102E47"/>
          </a:solidFill>
          <a:ln>
            <a:solidFill>
              <a:srgbClr val="21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" y="503834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8F28A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020056"/>
            <a:ext cx="1847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F5F8FC"/>
                </a:solidFill>
                <a:latin typeface="Aptos"/>
              </a:rPr>
              <a:t>Sanitize + encode only after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52297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A9B9C8"/>
                </a:solidFill>
                <a:latin typeface="Aptos"/>
              </a:rPr>
              <a:t>Key principle: do not let downstream cleanup
discard evidence of upstream defects.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3712" y="1901952"/>
            <a:ext cx="7040880" cy="4069080"/>
          </a:xfrm>
          <a:prstGeom prst="roundRect">
            <a:avLst>
              <a:gd name="adj" fmla="val 12000"/>
            </a:avLst>
          </a:prstGeom>
          <a:solidFill>
            <a:srgbClr val="06111E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9744" y="2130552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7D68"/>
                </a:solidFill>
                <a:latin typeface="Aptos Display"/>
              </a:rPr>
              <a:t>RAW PROBE / ACTUAL GATE 2 DIAGNOSTIC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744" y="2395728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5F8FC"/>
                </a:solidFill>
                <a:latin typeface="Aptos"/>
              </a:rPr>
              <a:t>Fram Strait 2024 Raw Probe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2779776"/>
            <a:ext cx="4160520" cy="2130552"/>
          </a:xfrm>
          <a:prstGeom prst="roundRect">
            <a:avLst>
              <a:gd name="adj" fmla="val 12000"/>
            </a:avLst>
          </a:prstGeom>
          <a:solidFill>
            <a:srgbClr val="06111E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00600" y="2779776"/>
            <a:ext cx="64008" cy="2130552"/>
          </a:xfrm>
          <a:prstGeom prst="rect">
            <a:avLst/>
          </a:prstGeom>
          <a:solidFill>
            <a:srgbClr val="FF7D68"/>
          </a:solidFill>
          <a:ln>
            <a:solidFill>
              <a:srgbClr val="FF7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2926080"/>
            <a:ext cx="3840480" cy="1901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D9E7F2"/>
                </a:solidFill>
                <a:latin typeface="Consolas"/>
              </a:rPr>
              <a:t>Group 'SEAWATER':
- LAT contains 4 null value(s).
- LON contains 4 null value(s).
- TIME contains 376 null value(s).
Encoding would be unsafe here because downstream
time/coordinate rails can discard rows and mask
the upstream defect.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60" y="2779776"/>
            <a:ext cx="1965960" cy="2130552"/>
          </a:xfrm>
          <a:prstGeom prst="roundRect">
            <a:avLst>
              <a:gd name="adj" fmla="val 12000"/>
            </a:avLst>
          </a:prstGeom>
          <a:solidFill>
            <a:srgbClr val="102E47"/>
          </a:solidFill>
          <a:ln>
            <a:solidFill>
              <a:srgbClr val="21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3054096"/>
            <a:ext cx="1554480" cy="1527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ACTION
Repair the
Boundary Loader
—not the
shared pipeline.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8888" y="5221224"/>
            <a:ext cx="6089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9D3C5"/>
                </a:solidFill>
                <a:latin typeface="Aptos"/>
              </a:rPr>
              <a:t>The diagnostic prints a ready-to-adapt custom Loader skeleton and exits non-zero.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234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6928" y="6519672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A9B9C8"/>
                </a:solidFill>
                <a:latin typeface="Aptos"/>
              </a:rPr>
              <a:t>MARIS  |  Declarative Intake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5013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9D3C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4389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9D3C5"/>
                </a:solidFill>
                <a:latin typeface="Aptos Display"/>
              </a:rPr>
              <a:t>REVIEW WITH 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F5F8FC"/>
                </a:solidFill>
                <a:latin typeface="Aptos Display"/>
              </a:rPr>
              <a:t>Proven on three formats. Governed for the fourth.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61872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A9B9C8"/>
                </a:solidFill>
                <a:latin typeface="Aptos"/>
              </a:rPr>
              <a:t>The review focus moves from bespoke callback code to explicit boundaries, contracts, and evidence.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234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9672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A9B9C8"/>
                </a:solidFill>
                <a:latin typeface="Aptos"/>
              </a:rPr>
              <a:t>MARIS  |  Declarative 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013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9D3C5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938528"/>
            <a:ext cx="2286000" cy="1389888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4884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2B9FF"/>
                </a:solidFill>
                <a:latin typeface="Aptos"/>
              </a:rPr>
              <a:t>CERN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41448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F5F8FC"/>
                </a:solidFill>
                <a:latin typeface="Aptos"/>
              </a:rPr>
              <a:t>524 ×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71216"/>
            <a:ext cx="19019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A9B9C8"/>
                </a:solidFill>
                <a:latin typeface="Aptos"/>
              </a:rPr>
              <a:t>mixed dates + radionuclides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5808" y="1938528"/>
            <a:ext cx="2286000" cy="1389888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6976" y="214884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9D3C5"/>
                </a:solidFill>
                <a:latin typeface="Aptos"/>
              </a:rPr>
              <a:t>JOIS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2441448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F5F8FC"/>
                </a:solidFill>
                <a:latin typeface="Aptos"/>
              </a:rPr>
              <a:t>76 × 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2871216"/>
            <a:ext cx="19019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A9B9C8"/>
                </a:solidFill>
                <a:latin typeface="Aptos"/>
              </a:rPr>
              <a:t>ZIP/XLSX + SQL 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1938528"/>
            <a:ext cx="2286000" cy="1389888"/>
          </a:xfrm>
          <a:prstGeom prst="roundRect">
            <a:avLst>
              <a:gd name="adj" fmla="val 12000"/>
            </a:avLst>
          </a:prstGeom>
          <a:solidFill>
            <a:srgbClr val="0C2740"/>
          </a:solidFill>
          <a:ln>
            <a:solidFill>
              <a:srgbClr val="23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8" y="214884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F28A"/>
                </a:solidFill>
                <a:latin typeface="Aptos"/>
              </a:rPr>
              <a:t>FRAM STRAIT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2441448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F5F8FC"/>
                </a:solidFill>
                <a:latin typeface="Aptos"/>
              </a:rPr>
              <a:t>377 × 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2871216"/>
            <a:ext cx="19019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A9B9C8"/>
                </a:solidFill>
                <a:latin typeface="Aptos"/>
              </a:rPr>
              <a:t>merged headers + scales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1938528"/>
            <a:ext cx="3493008" cy="1389888"/>
          </a:xfrm>
          <a:prstGeom prst="roundRect">
            <a:avLst>
              <a:gd name="adj" fmla="val 12000"/>
            </a:avLst>
          </a:prstGeom>
          <a:solidFill>
            <a:srgbClr val="102E47"/>
          </a:solidFill>
          <a:ln>
            <a:solidFill>
              <a:srgbClr val="21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214884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9D3C5"/>
                </a:solidFill>
                <a:latin typeface="Aptos Display"/>
              </a:rPr>
              <a:t>RUNTIME COMPATIBILITY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2450592"/>
            <a:ext cx="2852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5F8FC"/>
                </a:solidFill>
                <a:latin typeface="Aptos"/>
              </a:rPr>
              <a:t>Legacy callback logic
remains untouched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2953512"/>
            <a:ext cx="2834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A9B9C8"/>
                </a:solidFill>
                <a:latin typeface="Aptos"/>
              </a:rPr>
              <a:t>Only an nbdev-generated Docs URL changed.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3730752"/>
            <a:ext cx="11009376" cy="1993392"/>
          </a:xfrm>
          <a:prstGeom prst="roundRect">
            <a:avLst>
              <a:gd name="adj" fmla="val 12000"/>
            </a:avLst>
          </a:prstGeom>
          <a:solidFill>
            <a:srgbClr val="102E47"/>
          </a:solidFill>
          <a:ln>
            <a:solidFill>
              <a:srgbClr val="21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968496"/>
            <a:ext cx="3657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8F28A"/>
                </a:solidFill>
                <a:latin typeface="Aptos Display"/>
              </a:rPr>
              <a:t>INTAKE_GOVERNANCE.MD / REVIEW CONTRACT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425696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8F28A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7" y="4370832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Keep file physics in the Loader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4754880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A9B9C8"/>
                </a:solidFill>
                <a:latin typeface="Aptos"/>
              </a:rPr>
              <a:t>ZIPs, sheets, broken cells, scale cleanup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3" y="4425696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8F28A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455" y="4370832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Keep meaning in YAML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5" y="4754880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A9B9C8"/>
                </a:solidFill>
                <a:latin typeface="Aptos"/>
              </a:rPr>
              <a:t>mappings, melt rules, LUTs, measurement defaults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4425696"/>
            <a:ext cx="292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8F28A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4370832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5F8FC"/>
                </a:solidFill>
                <a:latin typeface="Aptos"/>
              </a:rPr>
              <a:t>Keep the core provider-blind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4754880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A9B9C8"/>
                </a:solidFill>
                <a:latin typeface="Aptos"/>
              </a:rPr>
              <a:t>mandatory gates, no dataset branches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" y="5934456"/>
            <a:ext cx="11009376" cy="320040"/>
          </a:xfrm>
          <a:prstGeom prst="roundRect">
            <a:avLst>
              <a:gd name="adj" fmla="val 12000"/>
            </a:avLst>
          </a:prstGeom>
          <a:solidFill>
            <a:srgbClr val="16354D"/>
          </a:solidFill>
          <a:ln>
            <a:solidFill>
              <a:srgbClr val="19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6016752"/>
            <a:ext cx="105613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5F8FC"/>
                </a:solidFill>
                <a:latin typeface="Aptos"/>
              </a:rPr>
              <a:t>REVIEW DECISION  |  Approve the boundary discipline: future datasets add contracts and loaders, not core branches.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446520"/>
            <a:ext cx="11183112" cy="0"/>
          </a:xfrm>
          <a:prstGeom prst="line">
            <a:avLst/>
          </a:prstGeom>
          <a:ln w="10160">
            <a:solidFill>
              <a:srgbClr val="234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519672"/>
            <a:ext cx="2834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A9B9C8"/>
                </a:solidFill>
                <a:latin typeface="Aptos"/>
              </a:rPr>
              <a:t>MARIS  |  Declarative Intake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013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9D3C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